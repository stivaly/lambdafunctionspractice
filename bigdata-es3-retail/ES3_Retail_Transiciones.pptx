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ed518a63-0a2c-78dc-b247-76976ca071ed}">
          <p14:sldIdLst>
            <p14:sldId id="256"/>
            <p14:sldId id="257"/>
          </p14:sldIdLst>
        </p14:section>
        <p14:section name="Etapas" id="{46e4ba70-1830-6246-4a09-fde9fb9f4981}">
          <p14:sldIdLst>
            <p14:sldId id="258"/>
            <p14:sldId id="259"/>
            <p14:sldId id="260"/>
            <p14:sldId id="261"/>
            <p14:sldId id="262"/>
          </p14:sldIdLst>
        </p14:section>
        <p14:section name="Cierre" id="{c1e37be4-c4b3-52c1-fe10-4341f14da487}">
          <p14:sldIdLst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Pantalla inicial (5–8 s). Archivo: 01_intro.md. Reemplazar nombre y sección antes de grabar.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mientras se narra el caso (01_intro.md). Luego pasar a la terminal: ls datos/, README_DATOS.txt, java -version, jps.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 de 3–5 s al inicio de 02_hdfs.md. Después, todo en la terminal.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 de 3–5 s al inicio de 03_pig.md. Después, todo en la terminal.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 de 3–5 s al inicio de 04_hive.md. Después, todo en la terminal.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 de 3–5 s al inicio de 05_hbase.md. Después, todo en la terminal.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 de 3–5 s al inicio de 06_mahout.md. Después, todo en la terminal.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 al inicio de 07_cierre.md.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07_cierre.md · Flujo (≈40 s). Las cifras deben coincidir con las de tu ejecución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07_cierre.md · Comparación (≈50 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07_cierre.md · Resultado de negocio (≈30 s) y limitación (≈30 s). Cifras calculadas de los CSV; verifica que tu salida de Hive las confirme.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Tarjeta final (3 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56692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TAP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51560"/>
            <a:ext cx="54864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691640"/>
            <a:ext cx="54864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ES3 · Big Data TI2081 · Retail Inteligente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EVALUACIÓN SUMATIVA 3 · BIG DATA TI2081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Retail Inteligente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6974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Proyecto integrador: Hadoop/HDFS · Pig · Hive · HBase · Mahout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204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[Tu nombre completo]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Sección [Tu sección]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0" y="1143000"/>
            <a:ext cx="2194560" cy="21945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Image 0" descr="Tien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69164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El caso: tres problemas en los datos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4" name="Image 0" descr="Regiones escritas de 12 form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Regiones escritas de 12 formas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15087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«Stgo.», «SANTIAGO» y «Santiago» son la misma región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28600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8" name="Image 1" descr="Ventas con monto inváli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42316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Ventas con monto inválido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2560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6 de las 180 ventas tienen monto negativo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333756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2" name="Image 2" descr="Tres preguntas de la gerenci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47472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3291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Tres preguntas de la gerencia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188720" y="3611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Ventas por región y categoría · perfil por cliente · patrones de compra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0" y="1234440"/>
            <a:ext cx="1463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486400" y="14173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</a:t>
            </a:r>
            <a:endParaRPr lang="en-US" sz="40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0" y="2103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ventas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132320" y="1234440"/>
            <a:ext cx="1463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132320" y="14173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4000" dirty="0"/>
          </a:p>
        </p:txBody>
      </p:sp>
      <p:sp>
        <p:nvSpPr>
          <p:cNvPr id="20" name="Text 15"/>
          <p:cNvSpPr txBox="1"/>
          <p:nvPr/>
        </p:nvSpPr>
        <p:spPr>
          <a:xfrm>
            <a:off x="7132320" y="2103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clientes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5486400" y="2834640"/>
            <a:ext cx="1463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486400" y="3017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40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0" y="3703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productos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7132320" y="2834640"/>
            <a:ext cx="1463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7132320" y="3017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26" name="Text 21"/>
          <p:cNvSpPr txBox="1"/>
          <p:nvPr/>
        </p:nvSpPr>
        <p:spPr>
          <a:xfrm>
            <a:off x="7132320" y="3703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regiones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ETAPA 01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0515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Hadoop / HDFS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691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Almacenamiento distribuido de los datos originales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HDFS operativo: jps y dfsadmin -report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Rutas raw y clean, carga de los 4 CSV, ls y lectura parcial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Almacenamiento físico: bloques en el DataNode (fsck)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100584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4290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≈ 3 min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91640" y="3429000"/>
            <a:ext cx="3017520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91640" y="34290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/retail/raw  →  /retail/clean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685800"/>
            <a:ext cx="2103120" cy="21031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1" name="Image 0" descr="HDF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188720"/>
            <a:ext cx="1097280" cy="10972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728216" y="4361688"/>
            <a:ext cx="356616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4160520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mage 1" descr="HDF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251960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024128" y="416052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HDFS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355848" y="4361688"/>
            <a:ext cx="356616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176272" y="4160520"/>
            <a:ext cx="402336" cy="40233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8" name="Image 2" descr="Pi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12" y="4251960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651760" y="416052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Pig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983480" y="4361688"/>
            <a:ext cx="356616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803904" y="4160520"/>
            <a:ext cx="402336" cy="40233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2" name="Image 3" descr="Hiv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344" y="4251960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279392" y="416052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Hive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611112" y="4361688"/>
            <a:ext cx="356616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431536" y="4160520"/>
            <a:ext cx="402336" cy="40233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6" name="Image 4" descr="HBas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2976" y="4251960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907024" y="416052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HBase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7059168" y="4160520"/>
            <a:ext cx="402336" cy="40233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9" name="Image 5" descr="Mahou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608" y="4251960"/>
            <a:ext cx="219456" cy="21945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534656" y="416052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Mahout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ETAPA 02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0515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Apache Pig</a:t>
            </a:r>
            <a:endParaRPr 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691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ETL: filtrar montos inválidos y estandarizar regiones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Script Pig Latin: FILTER monto &gt; 0 y CASE de regiones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Conteos: 180 de entrada · 174 válidas · 6 descartadas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5 ejemplos de normalización y tabla de mapeo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100584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4290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≈ 6 min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91640" y="3429000"/>
            <a:ext cx="3017520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91640" y="34290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ventas_raw  →  ventas_limpias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685800"/>
            <a:ext cx="2103120" cy="21031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1" name="Image 0" descr="Pi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188720"/>
            <a:ext cx="1097280" cy="10972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728216" y="4361688"/>
            <a:ext cx="356616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4160520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mage 1" descr="HDF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251960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024128" y="416052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HDFS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355848" y="4361688"/>
            <a:ext cx="356616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176272" y="4160520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age 2" descr="Pi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12" y="4251960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651760" y="416052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Pig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983480" y="4361688"/>
            <a:ext cx="356616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803904" y="4160520"/>
            <a:ext cx="402336" cy="40233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2" name="Image 3" descr="Hiv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344" y="4251960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279392" y="416052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Hive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611112" y="4361688"/>
            <a:ext cx="356616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431536" y="4160520"/>
            <a:ext cx="402336" cy="40233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6" name="Image 4" descr="HBas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2976" y="4251960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907024" y="416052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HBase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7059168" y="4160520"/>
            <a:ext cx="402336" cy="40233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9" name="Image 5" descr="Mahou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608" y="4251960"/>
            <a:ext cx="219456" cy="21945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534656" y="416052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Mahout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ETAPA 03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0515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Apache Hive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691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Data warehouse retail_dw sobre los datos limpios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Tablas externas sobre la salida de Pig + tabla ORC administrada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Ubicación en HDFS y metadatos (DESCRIBE FORMATTED)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Consultas: por región, por categoría, top 3 productos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100584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4290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≈ 7 min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91640" y="3429000"/>
            <a:ext cx="3017520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91640" y="34290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/retail/clean  →  retail_dw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685800"/>
            <a:ext cx="2103120" cy="21031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1" name="Image 0" descr="Hi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188720"/>
            <a:ext cx="1097280" cy="10972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728216" y="4361688"/>
            <a:ext cx="356616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4160520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mage 1" descr="HDF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251960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024128" y="416052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HDFS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355848" y="4361688"/>
            <a:ext cx="356616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176272" y="4160520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Image 2" descr="Pi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12" y="4251960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651760" y="416052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Pig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983480" y="4361688"/>
            <a:ext cx="356616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803904" y="4160520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mage 3" descr="Hiv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344" y="4251960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279392" y="416052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Hive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611112" y="4361688"/>
            <a:ext cx="356616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431536" y="4160520"/>
            <a:ext cx="402336" cy="40233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6" name="Image 4" descr="HBas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2976" y="4251960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907024" y="416052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HBase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7059168" y="4160520"/>
            <a:ext cx="402336" cy="40233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9" name="Image 5" descr="Mahou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608" y="4251960"/>
            <a:ext cx="219456" cy="21945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534656" y="416052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Mahout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ETAPA 04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0515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Apache HBase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691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Perfiles de cliente consultables por clave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Tabla perfiles_cliente con familias datos y actividad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put · get · scan · actualización · delete con verificación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Por qué el acceso por clave va en HBase y no en Hive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100584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4290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≈ 5 min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91640" y="3429000"/>
            <a:ext cx="3017520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91640" y="34290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RowKey = cliente_id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685800"/>
            <a:ext cx="2103120" cy="21031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1" name="Image 0" descr="H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188720"/>
            <a:ext cx="1097280" cy="10972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728216" y="4361688"/>
            <a:ext cx="356616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4160520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mage 1" descr="HDF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251960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024128" y="416052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HDFS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355848" y="4361688"/>
            <a:ext cx="356616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176272" y="4160520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Image 2" descr="Pi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12" y="4251960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651760" y="416052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Pig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983480" y="4361688"/>
            <a:ext cx="356616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803904" y="4160520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mage 3" descr="Hiv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344" y="4251960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279392" y="416052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Hive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611112" y="4361688"/>
            <a:ext cx="356616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431536" y="4160520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mage 4" descr="HBas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2976" y="4251960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907024" y="416052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HBase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7059168" y="4160520"/>
            <a:ext cx="402336" cy="40233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9" name="Image 5" descr="Mahou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608" y="4251960"/>
            <a:ext cx="219456" cy="21945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534656" y="416052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Mahout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ETAPA 05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0515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Apache Mahout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691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Recomendaciones a partir de las compras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Versión 0.13.0 y algoritmo recommenditembased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Entrada numérica preparada con Pig (C008 → 8, P006 → 6)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Salida real, interpretación y limitaciones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100584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4290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≈ 5 min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91640" y="3429000"/>
            <a:ext cx="3017520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91640" y="34290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interacciones  →  recomendaciones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685800"/>
            <a:ext cx="2103120" cy="21031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1" name="Image 0" descr="Maho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188720"/>
            <a:ext cx="1097280" cy="10972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728216" y="4361688"/>
            <a:ext cx="356616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4160520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mage 1" descr="HDF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251960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024128" y="416052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HDFS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355848" y="4361688"/>
            <a:ext cx="356616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176272" y="4160520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Image 2" descr="Pi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12" y="4251960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651760" y="416052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Pig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983480" y="4361688"/>
            <a:ext cx="356616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803904" y="4160520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mage 3" descr="Hiv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344" y="4251960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279392" y="416052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Hive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611112" y="4361688"/>
            <a:ext cx="356616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431536" y="4160520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6" name="Image 4" descr="HBas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2976" y="4251960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907024" y="416052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HBase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7059168" y="4160520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mage 5" descr="Mahou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608" y="4251960"/>
            <a:ext cx="219456" cy="21945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534656" y="416052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Mahout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CIERRE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0515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Flujo y resultados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691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Lo que se demostró y lo que significa para el negocio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Diagrama del flujo efectivamente demostrado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Qué problema resuelve cada herramienta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Resultado de negocio y limitación técnica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4290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≈ 2:30 min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685800"/>
            <a:ext cx="2103120" cy="21031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9" name="Image 0" descr="Cier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188720"/>
            <a:ext cx="1097280" cy="10972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728216" y="4361688"/>
            <a:ext cx="356616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4160520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mage 1" descr="HDF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25196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24128" y="416052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HDFS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355848" y="4361688"/>
            <a:ext cx="356616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176272" y="4160520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mage 2" descr="Pi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12" y="425196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651760" y="416052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Pig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983480" y="4361688"/>
            <a:ext cx="356616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803904" y="4160520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Image 3" descr="Hiv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344" y="4251960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279392" y="416052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Hive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611112" y="4361688"/>
            <a:ext cx="356616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431536" y="4160520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Image 4" descr="HBas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2976" y="4251960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907024" y="416052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HBase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7059168" y="4160520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7" name="Image 5" descr="Mahou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608" y="4251960"/>
            <a:ext cx="219456" cy="219456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534656" y="416052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Mahout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Flujo efectivamente demostrado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41732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1280160"/>
            <a:ext cx="1271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CSV provistos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4 archivos, sin editar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57984" y="1280160"/>
            <a:ext cx="141732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31136" y="1280160"/>
            <a:ext cx="1271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HDFS raw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/retail/raw · 180 ventas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58768" y="1280160"/>
            <a:ext cx="1417320" cy="868680"/>
          </a:xfrm>
          <a:prstGeom prst="roundRect">
            <a:avLst>
              <a:gd name="adj" fmla="val 1052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31920" y="1280160"/>
            <a:ext cx="1271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Pig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monto &gt; 0 · 12 → 4 regiones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59552" y="1280160"/>
            <a:ext cx="141732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32704" y="1280160"/>
            <a:ext cx="1271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HDFS clean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174 válidas · 6 descartadas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260336" y="1280160"/>
            <a:ext cx="1417320" cy="868680"/>
          </a:xfrm>
          <a:prstGeom prst="roundRect">
            <a:avLst>
              <a:gd name="adj" fmla="val 1052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33488" y="1280160"/>
            <a:ext cx="1271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Hive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retail_dw · región, categoría, top 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901952" y="1714500"/>
            <a:ext cx="22860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602736" y="1714500"/>
            <a:ext cx="22860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303520" y="1714500"/>
            <a:ext cx="22860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004304" y="1714500"/>
            <a:ext cx="22860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157984" y="3246120"/>
            <a:ext cx="1417320" cy="868680"/>
          </a:xfrm>
          <a:prstGeom prst="roundRect">
            <a:avLst>
              <a:gd name="adj" fmla="val 1052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231136" y="3246120"/>
            <a:ext cx="1271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Pig prep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159 pares numéricos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858768" y="3246120"/>
            <a:ext cx="1417320" cy="868680"/>
          </a:xfrm>
          <a:prstGeom prst="roundRect">
            <a:avLst>
              <a:gd name="adj" fmla="val 1052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31920" y="3246120"/>
            <a:ext cx="1271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Mahout 0.13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recommenditembased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559552" y="3246120"/>
            <a:ext cx="141732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32704" y="3246120"/>
            <a:ext cx="1271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HDFS output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/retail/mahout/output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260336" y="3246120"/>
            <a:ext cx="1417320" cy="868680"/>
          </a:xfrm>
          <a:prstGeom prst="roundRect">
            <a:avLst>
              <a:gd name="adj" fmla="val 1052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33488" y="3246120"/>
            <a:ext cx="1271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HBase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perfiles_cliente · RowKey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02736" y="3680460"/>
            <a:ext cx="22860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303520" y="3680460"/>
            <a:ext cx="22860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866644" y="2176272"/>
            <a:ext cx="0" cy="1042416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968996" y="2176272"/>
            <a:ext cx="0" cy="1042416"/>
          </a:xfrm>
          <a:prstGeom prst="line">
            <a:avLst/>
          </a:prstGeom>
          <a:noFill/>
          <a:ln w="22225">
            <a:solidFill>
              <a:schemeClr val="tx2"/>
            </a:solidFill>
            <a:prstDash val="dash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5934456" y="25328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Q6 + dim_clientes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35204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Rama Mahout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Qué problema resuelve cada herramienta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188720"/>
          <a:ext cx="75895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023360"/>
                <a:gridCol w="2194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Herramienta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Problema que resuelve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Tipo de acceso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HDFS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Guardar archivos grandes de forma distribuida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Archivos completos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Pig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Limpiar y transformar datos crudos (ETL)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Lotes, procedimental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Hive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Analizar con SQL: JOIN y agregaciones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Analítico, recorre tablas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HBase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Leer o modificar un registro puntual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Aleatorio por RowKey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Mahout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Aprender patrones: recomendaciones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Aprendizaje por lotes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1673352"/>
            <a:ext cx="365760" cy="3657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5" name="Image 0" descr="HDF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746504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2240280"/>
            <a:ext cx="365760" cy="3657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7" name="Image 1" descr="Pi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313432"/>
            <a:ext cx="219456" cy="219456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457200" y="2807208"/>
            <a:ext cx="365760" cy="3657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9" name="Image 2" descr="Hi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880360"/>
            <a:ext cx="219456" cy="219456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457200" y="3374136"/>
            <a:ext cx="365760" cy="3657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1" name="Image 3" descr="HBa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447288"/>
            <a:ext cx="219456" cy="219456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457200" y="3941064"/>
            <a:ext cx="365760" cy="3657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3" name="Image 4" descr="Mahou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4014216"/>
            <a:ext cx="219456" cy="2194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Resultado de negocio y limitación técnica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7548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57,6 %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118872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 la facturación viene solo del Notebook (34,5 de 59,9 millones)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04288"/>
            <a:ext cx="47548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04288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$268.636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2423160" y="2304288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ticket promedio en Concepción, contra $399.370 en Santiago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419856"/>
            <a:ext cx="47548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419856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423160" y="3419856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productos sin ventas: Cafetera y Mancuernas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0" y="1188720"/>
            <a:ext cx="3200400" cy="3191256"/>
          </a:xfrm>
          <a:prstGeom prst="roundRect">
            <a:avLst>
              <a:gd name="adj" fmla="val 343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3" name="Image 0" descr="Limita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463040"/>
            <a:ext cx="411480" cy="4114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309360" y="1463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Limitación técnica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2057400"/>
            <a:ext cx="2697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Un solo nodo, replicación 1 y 180 registros: se demuestra el flujo, no la tolerancia a fallos ni el rendimiento.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HBase y Mahout no están integrados automáticamente con Hive.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Gracias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[Tu nombre] · Sección [Tu sección] · ES3 Big Data TI2081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0" y="1143000"/>
            <a:ext cx="2194560" cy="21945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Image 0" descr="Tien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69164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ail Inteligente">
  <a:themeElements>
    <a:clrScheme name="Retail Inteligente">
      <a:dk1>
        <a:srgbClr val="14181F"/>
      </a:dk1>
      <a:lt1>
        <a:srgbClr val="FFFFFF"/>
      </a:lt1>
      <a:dk2>
        <a:srgbClr val="2A3340"/>
      </a:dk2>
      <a:lt2>
        <a:srgbClr val="EEF1F4"/>
      </a:lt2>
      <a:accent1>
        <a:srgbClr val="F2B705"/>
      </a:accent1>
      <a:accent2>
        <a:srgbClr val="2BB3A3"/>
      </a:accent2>
      <a:accent3>
        <a:srgbClr val="E4572E"/>
      </a:accent3>
      <a:accent4>
        <a:srgbClr val="6C8EBF"/>
      </a:accent4>
      <a:accent5>
        <a:srgbClr val="9AA5B1"/>
      </a:accent5>
      <a:accent6>
        <a:srgbClr val="7A5C99"/>
      </a:accent6>
      <a:hlink>
        <a:srgbClr val="2BB3A3"/>
      </a:hlink>
      <a:folHlink>
        <a:srgbClr val="7A5C99"/>
      </a:folHlink>
    </a:clrScheme>
    <a:fontScheme name="Retail Inteligent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Inteligente — Transiciones del video</dc:title>
  <dc:subject>PptxGenJS Presentation</dc:subject>
  <dc:creator>ES3 Big Data TI2081</dc:creator>
  <cp:lastModifiedBy>ES3 Big Data TI2081</cp:lastModifiedBy>
  <cp:revision>1</cp:revision>
  <dcterms:created xsi:type="dcterms:W3CDTF">2026-10-25T16:58:44Z</dcterms:created>
  <dcterms:modified xsi:type="dcterms:W3CDTF">2026-10-25T16:58:44Z</dcterms:modified>
</cp:coreProperties>
</file>